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ed27-coder/cv-project-kepler-exoplanet-detection-invento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ed27-coder/cv-project-kepler-exoplanet-detection-invento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5143500"/>
            <a:ext cx="27432" cy="274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2811" y="106925"/>
            <a:ext cx="41148" cy="41148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956" y="4724691"/>
            <a:ext cx="54864" cy="54864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9445" y="909719"/>
            <a:ext cx="27432" cy="2743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8519" y="3604668"/>
            <a:ext cx="41148" cy="41148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99121" y="2253835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4441" y="2148225"/>
            <a:ext cx="27432" cy="27432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86380" y="3701497"/>
            <a:ext cx="41148" cy="41148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0025" y="829723"/>
            <a:ext cx="54864" cy="54864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5559" y="4781200"/>
            <a:ext cx="27432" cy="27432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959" y="78600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1" y="5141285"/>
            <a:ext cx="54864" cy="54864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54920" y="139495"/>
            <a:ext cx="27432" cy="27432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74536" y="4664473"/>
            <a:ext cx="41148" cy="41148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39933" y="992576"/>
            <a:ext cx="54864" cy="54864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39490" y="3506061"/>
            <a:ext cx="27432" cy="274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0752" y="2359993"/>
            <a:ext cx="41148" cy="41148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8123" y="2043344"/>
            <a:ext cx="54864" cy="54864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85545" y="3796380"/>
            <a:ext cx="27432" cy="2743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447" y="752728"/>
            <a:ext cx="41148" cy="41148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153" y="4833905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91655" y="54568"/>
            <a:ext cx="27432" cy="27432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5718" y="5134646"/>
            <a:ext cx="41148" cy="41148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12475" y="176254"/>
            <a:ext cx="54864" cy="54864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9586" y="4600652"/>
            <a:ext cx="27432" cy="27432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44621" y="1078153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68254" y="3405844"/>
            <a:ext cx="54864" cy="54864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9648" y="2466516"/>
            <a:ext cx="27432" cy="27432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6" y="1939373"/>
            <a:ext cx="41148" cy="41148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32564" y="3889154"/>
            <a:ext cx="54864" cy="54864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66331" y="678866"/>
            <a:ext cx="27432" cy="274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06890" y="4882713"/>
            <a:ext cx="41148" cy="41148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3328" y="34872"/>
            <a:ext cx="54864" cy="54864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15394" y="5123592"/>
            <a:ext cx="27432" cy="2743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67300" y="217139"/>
            <a:ext cx="41148" cy="41148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07948" y="4533336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8802" y="1166302"/>
            <a:ext cx="27432" cy="27432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6959" y="3304191"/>
            <a:ext cx="41148" cy="41148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55114" y="2573220"/>
            <a:ext cx="54864" cy="54864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74310" y="1836491"/>
            <a:ext cx="27432" cy="27432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33550" y="3979659"/>
            <a:ext cx="41148" cy="4114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26302" y="608264"/>
            <a:ext cx="54864" cy="54864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97482" y="4927542"/>
            <a:ext cx="27432" cy="27432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75437" y="19544"/>
            <a:ext cx="41148" cy="41148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00664" y="5108144"/>
            <a:ext cx="54864" cy="54864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541" y="262078"/>
            <a:ext cx="27432" cy="2743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345" y="4462642"/>
            <a:ext cx="41148" cy="41148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67861" y="1256872"/>
            <a:ext cx="54864" cy="54864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08216" y="3201277"/>
            <a:ext cx="27432" cy="2743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59627" y="2679922"/>
            <a:ext cx="41148" cy="41148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25405" y="1734875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22995" y="4067740"/>
            <a:ext cx="27432" cy="27432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75082" y="541043"/>
            <a:ext cx="41148" cy="41148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>
                <a:alpha val="5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7303" y="4968314"/>
            <a:ext cx="54864" cy="54864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>
                <a:alpha val="6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274" y="8612"/>
            <a:ext cx="27432" cy="27432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7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-731520" y="822960"/>
            <a:ext cx="2926080" cy="2926080"/>
          </a:xfrm>
          <a:prstGeom prst="ellipse">
            <a:avLst/>
          </a:prstGeom>
          <a:solidFill>
            <a:srgbClr val="1A3A6E"/>
          </a:solidFill>
          <a:ln w="25400">
            <a:solidFill>
              <a:srgbClr val="2A5F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-457200" y="1005840"/>
            <a:ext cx="2377440" cy="2377440"/>
          </a:xfrm>
          <a:prstGeom prst="ellipse">
            <a:avLst/>
          </a:prstGeom>
          <a:solidFill>
            <a:srgbClr val="0F2A55">
              <a:alpha val="80000"/>
            </a:srgbClr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0" y="9144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🪐 Exoplanet Detection</a:t>
            </a:r>
            <a:endParaRPr lang="en-US" sz="3800" dirty="0"/>
          </a:p>
        </p:txBody>
      </p:sp>
      <p:sp>
        <p:nvSpPr>
          <p:cNvPr id="60" name="Text 58"/>
          <p:cNvSpPr/>
          <p:nvPr/>
        </p:nvSpPr>
        <p:spPr>
          <a:xfrm>
            <a:off x="2286000" y="18288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Kepler Light Curves</a:t>
            </a:r>
            <a:endParaRPr lang="en-US" sz="2600" dirty="0"/>
          </a:p>
        </p:txBody>
      </p:sp>
      <p:sp>
        <p:nvSpPr>
          <p:cNvPr id="61" name="Shape 59"/>
          <p:cNvSpPr/>
          <p:nvPr/>
        </p:nvSpPr>
        <p:spPr>
          <a:xfrm>
            <a:off x="2286000" y="2514600"/>
            <a:ext cx="5029200" cy="36576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0" y="2651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AstroNet-Inspired 1D CNN  ·  Computer Vision ITAI 1378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2286000" y="3063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Medina  ·  San Antonio College  ·  med27-coder</a:t>
            </a:r>
            <a:endParaRPr lang="en-US" sz="1300" dirty="0"/>
          </a:p>
        </p:txBody>
      </p:sp>
      <p:sp>
        <p:nvSpPr>
          <p:cNvPr id="64" name="Text 62">
            <a:hlinkClick r:id="rId1" tooltip=""/>
          </p:cNvPr>
          <p:cNvSpPr/>
          <p:nvPr/>
        </p:nvSpPr>
        <p:spPr>
          <a:xfrm>
            <a:off x="2286000" y="4434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u="sng" dirty="0">
                <a:solidFill>
                  <a:srgbClr val="0AADA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github.com/med27-coder/cv-project-kepler-exoplanet-detection-inventory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Kepler telescope detects a star dimming, it could mean a planet passed in front — or it could be a false alarm (eclipsing binary, instrumental noise, etc.).
</a:t>
            </a:r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can't keep up with the scale of data. Machine learning can.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0" cy="32004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636776"/>
            <a:ext cx="310896" cy="310896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36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30368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KOI catalog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0368" y="1847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Exoplanet Archive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203704"/>
            <a:ext cx="310896" cy="310896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30368" y="2167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light curves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30368" y="24140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MAST via lightkurve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770632"/>
            <a:ext cx="310896" cy="310896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30368" y="2734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Phase-fold &amp; normalize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29809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201-bin time series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337560"/>
            <a:ext cx="310896" cy="310896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3300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1D CNN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0368" y="35478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AstroNet-inspired architecture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904488"/>
            <a:ext cx="310896" cy="310896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3867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predict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4114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ROC, PR curve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53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KOIs Processed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51760" y="4453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65176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Bins / Sample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453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84632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Target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4453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4088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Plan  —  Version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0" y="228600"/>
            <a:ext cx="1645920" cy="548640"/>
          </a:xfrm>
          <a:prstGeom prst="rect">
            <a:avLst>
              <a:gd name="adj" fmla="val 10000"/>
            </a:avLst>
          </a:prstGeom>
          <a:solidFill>
            <a:srgbClr val="1A3A6E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28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/  Initial Design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Dependencies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fsspec pin + lightkurve + scikit-learn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1572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CONFIRMED + 200 FALSE POSITIVE = 400 total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Light Curves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6700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download, single-threaded tqdm loop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28600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Architecture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26700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×4 → Dense(512) → Dense(256) → sigmoid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Evaluation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7673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· ROC curve · PR curve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383280"/>
            <a:ext cx="4114800" cy="914400"/>
          </a:xfrm>
          <a:prstGeom prst="rect">
            <a:avLst/>
          </a:prstGeom>
          <a:solidFill>
            <a:srgbClr val="13214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65192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5192" y="37673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.h5 model + download plots via google.colab.files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the baseline design. Most steps worked as intended, but several practical constraints led to improvements in V1.5.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Implemented  —  Version 1.5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0" y="228600"/>
            <a:ext cx="1645920" cy="548640"/>
          </a:xfrm>
          <a:prstGeom prst="rect">
            <a:avLst/>
          </a:prstGeom>
          <a:solidFill>
            <a:srgbClr val="2A1A0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28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  /  Final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14300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07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×2.5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200 → 500 per class (1,000 total)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MAST servers stable; more data, better generalization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4608" y="114300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207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Checkpoints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01768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Cache arrays to Drive after download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01768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Colab session timeouts killed 30-min downloads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233172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Downloads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ThreadPoolExecutor, 10 workers, 15s timeout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Sequential loop was ~4× slower for 1,000 KOIs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33172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233172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Added (Step 2.5)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01768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Period · Duration · Depth distribution plots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01768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Visual justification for CNN approach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" y="352044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App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Live KOI lookup + CNN prediction UI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" y="4114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Interactive demo extends the project's usability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520440"/>
            <a:ext cx="64008" cy="1005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3520440"/>
            <a:ext cx="4050792" cy="1005840"/>
          </a:xfrm>
          <a:prstGeom prst="rect">
            <a:avLst/>
          </a:prstGeom>
          <a:solidFill>
            <a:srgbClr val="132140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Comparison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01768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Untrained vs. trained model side-by-side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01768" y="4114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Concrete proof that learning happened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 &amp; Data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28016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093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Archive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entries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536192"/>
            <a:ext cx="402336" cy="128016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1188720"/>
            <a:ext cx="128016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48256" y="16093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lightkurve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bins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28416" y="1536192"/>
            <a:ext cx="402336" cy="128016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0752" y="1188720"/>
            <a:ext cx="128016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30752" y="16093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10912" y="1536192"/>
            <a:ext cx="402336" cy="128016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3248" y="1188720"/>
            <a:ext cx="1280160" cy="822960"/>
          </a:xfrm>
          <a:prstGeom prst="rect">
            <a:avLst/>
          </a:prstGeom>
          <a:solidFill>
            <a:srgbClr val="0AADA4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13248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13248" y="16093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 blocks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Dense head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93408" y="1536192"/>
            <a:ext cx="402336" cy="128016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95744" y="1188720"/>
            <a:ext cx="1280160" cy="822960"/>
          </a:xfrm>
          <a:prstGeom prst="rect">
            <a:avLst/>
          </a:prstGeom>
          <a:solidFill>
            <a:srgbClr val="1A4A2E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95744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95744" y="16093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Layers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2606040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Conv1D(16, k=5) + MaxPool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(201, 1)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935224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35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Conv1D(32, k=5) + MaxPool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2935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(100, 16)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264408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64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Conv1D(64, k=5) + MaxPool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3264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(50, 32)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593592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Conv1D(128, k=5) + MaxPool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(25, 64)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922776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22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Dense(512, relu) + Drop 50%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0" y="3922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(12, 128) → Flatten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251960"/>
            <a:ext cx="3657600" cy="274320"/>
          </a:xfrm>
          <a:prstGeom prst="rect">
            <a:avLst/>
          </a:prstGeom>
          <a:solidFill>
            <a:srgbClr val="0F1E3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Dense(256, relu) + Drop 30%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(512,)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581144"/>
            <a:ext cx="3657600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581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Dense(1, sigmoid)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0" y="45811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(256,)  →  Planet / FP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30936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8952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= 1e-4)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29352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89520" y="2935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09360" y="3264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89520" y="3264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+ Early Stopping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09360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589520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9360" y="39227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589520" y="3922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0936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Split: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58952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train set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309360" y="45811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589520" y="4581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20240" cy="1463040"/>
          </a:xfrm>
          <a:prstGeom prst="rect">
            <a:avLst/>
          </a:prstGeom>
          <a:solidFill>
            <a:srgbClr val="132140"/>
          </a:solidFill>
          <a:ln w="12700">
            <a:solidFill>
              <a:srgbClr val="3D9B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80%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58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notebook output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20240" cy="1463040"/>
          </a:xfrm>
          <a:prstGeom prst="rect">
            <a:avLst/>
          </a:prstGeom>
          <a:solidFill>
            <a:srgbClr val="132140"/>
          </a:solidFill>
          <a:ln w="12700">
            <a:solidFill>
              <a:srgbClr val="0AA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(ROC)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A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0.85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258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notebook output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143000"/>
            <a:ext cx="1920240" cy="1463040"/>
          </a:xfrm>
          <a:prstGeom prst="rect">
            <a:avLst/>
          </a:prstGeom>
          <a:solidFill>
            <a:srgbClr val="132140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80%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258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notebook output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1143000"/>
            <a:ext cx="1920240" cy="1463040"/>
          </a:xfrm>
          <a:prstGeom prst="rect">
            <a:avLst/>
          </a:prstGeom>
          <a:solidFill>
            <a:srgbClr val="132140"/>
          </a:solidFill>
          <a:ln w="12700">
            <a:solidFill>
              <a:srgbClr val="9C59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5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80%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258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notebook output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Outputs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" y="3319272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" y="34655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planet counts on test set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319272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—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47488" y="34655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measures overall discrimination ability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794760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3721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 —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" y="39410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— best for class-imbalanced scenarios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794760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3721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Phase-folded Predictions — 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47488" y="39410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correct vs. incorrect per light curve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270248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" y="4197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Training —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" y="44165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Untrained (~50%) → trained model comparison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4270248"/>
            <a:ext cx="182880" cy="182880"/>
          </a:xfrm>
          <a:prstGeom prst="ellipse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4197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Overlay —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47488" y="44165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AUC, and loss across epochs + test line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Key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2560320"/>
          </a:xfrm>
          <a:prstGeom prst="rect">
            <a:avLst/>
          </a:prstGeom>
          <a:solidFill>
            <a:srgbClr val="1A3A6E"/>
          </a:solidFill>
          <a:ln w="12700">
            <a:solidFill>
              <a:srgbClr val="0AA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94360" cy="59436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Exoplanet Archive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5270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/ Metadata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exoplanetarchive.ipac.caltech.edu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67128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 Cumulative Table downloaded via the NStED REST API. Provides kepid, orbital period, epoch, and disposition (CONFIRMED / FALSE POSITIVE) for ~9,000 Kepler Objects of Interest.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114800" cy="2560320"/>
          </a:xfrm>
          <a:prstGeom prst="rect">
            <a:avLst/>
          </a:prstGeom>
          <a:solidFill>
            <a:srgbClr val="1A3A6E"/>
          </a:solidFill>
          <a:ln w="12700">
            <a:solidFill>
              <a:srgbClr val="0AA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43000"/>
            <a:ext cx="594360" cy="59436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58968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MAST Archive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58968" y="15270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Photometry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mast.stsci.edu  (via lightkurve)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167128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Long-cadence Kepler light curves fetched on-demand per star using the lightkurve Python library. Each light curve is flattened, phase-folded by orbital period, binned to 201 samples, and z-score normalized.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Folding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53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transit signals by orbital period for a clean dip shape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14600" y="425196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Normalization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4553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removes stellar variability; isolates transit depth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425196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Filters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553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 NaN bins, std &gt; 1e-4; rejects corrupted curves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425196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03720" y="4553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confirmed vs. FP samples prevents class bias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5143500"/>
            <a:ext cx="22860" cy="228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50199" y="72518"/>
            <a:ext cx="33833" cy="33833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36887" y="4857517"/>
            <a:ext cx="44806" cy="4480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0640" y="628356"/>
            <a:ext cx="55778" cy="5577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2931" y="4063171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2932" y="1616412"/>
            <a:ext cx="33833" cy="33833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83" y="2937128"/>
            <a:ext cx="44806" cy="4480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6214" y="2816938"/>
            <a:ext cx="55778" cy="5577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3806" y="1729824"/>
            <a:ext cx="22860" cy="228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42" y="3962933"/>
            <a:ext cx="33833" cy="33833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7282" y="709767"/>
            <a:ext cx="44806" cy="44806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6573" y="4799525"/>
            <a:ext cx="55778" cy="5577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0039" y="103821"/>
            <a:ext cx="22860" cy="228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41452" y="5140651"/>
            <a:ext cx="33833" cy="33833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4214" y="46752"/>
            <a:ext cx="44806" cy="4480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2457" y="4910445"/>
            <a:ext cx="55778" cy="5577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45436" y="551251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607" y="4160105"/>
            <a:ext cx="33833" cy="33833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79711" y="1505116"/>
            <a:ext cx="44806" cy="4480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16914" y="3056510"/>
            <a:ext cx="55778" cy="5577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51631" y="2696204"/>
            <a:ext cx="22860" cy="228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3206" y="1845102"/>
            <a:ext cx="33833" cy="33833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4204" y="3859613"/>
            <a:ext cx="44806" cy="44806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27349" y="795303"/>
            <a:ext cx="55778" cy="5577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9202" y="4736597"/>
            <a:ext cx="22860" cy="228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710" y="140592"/>
            <a:ext cx="33833" cy="33833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93396" y="5132111"/>
            <a:ext cx="44806" cy="4480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4538" y="26579"/>
            <a:ext cx="55778" cy="5577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53250" y="4958193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2734" y="478621"/>
            <a:ext cx="33833" cy="33833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09554" y="4253521"/>
            <a:ext cx="44806" cy="4480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9742" y="1396183"/>
            <a:ext cx="55778" cy="55778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2269" y="3174817"/>
            <a:ext cx="22860" cy="2286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64" y="2575194"/>
            <a:ext cx="33833" cy="33833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37411" y="1961989"/>
            <a:ext cx="44806" cy="44806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39474" y="3753440"/>
            <a:ext cx="55778" cy="5577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4489" y="884774"/>
            <a:ext cx="22860" cy="228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05597" y="4668873"/>
            <a:ext cx="33833" cy="33833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6772" y="182749"/>
            <a:ext cx="44806" cy="4480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10099" y="5117899"/>
            <a:ext cx="55778" cy="5577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Next Steps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65760" y="1572768"/>
            <a:ext cx="54864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is messy — quality filters are as important as the model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2084832"/>
            <a:ext cx="54864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20848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checkpointing is essential for long Colab jobs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2596896"/>
            <a:ext cx="54864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25968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downloads cut pipeline time by ~4× with minimal added complexity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3108960"/>
            <a:ext cx="54864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3108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before training builds intuition for what the model should learn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3621024"/>
            <a:ext cx="54864" cy="274320"/>
          </a:xfrm>
          <a:prstGeom prst="rect">
            <a:avLst/>
          </a:prstGeom>
          <a:solidFill>
            <a:srgbClr val="0AADA4"/>
          </a:solidFill>
          <a:ln w="12700">
            <a:solidFill>
              <a:srgbClr val="0AADA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6210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AstroNet-style phase-folding turns a raw time series into a learnable signal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63440" y="1143000"/>
            <a:ext cx="0" cy="329184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937760" y="1645920"/>
            <a:ext cx="237744" cy="23774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1645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239512" y="1572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full dataset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239512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~9,000 KOIs instead of 1,000 for better coverage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37760" y="2286000"/>
            <a:ext cx="237744" cy="23774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2286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239512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+ Local views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239512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two-branch network (Shallue &amp; Vanderburg 2018) for higher precision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937760" y="2926080"/>
            <a:ext cx="237744" cy="23774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3776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239512" y="2852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239512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Tuner to optimize filter sizes, learning rate, dropout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937760" y="3566160"/>
            <a:ext cx="237744" cy="23774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3566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239512" y="3493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 mission data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239512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pipeline to newer TESS light curves via lightkurve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937760" y="4206240"/>
            <a:ext cx="237744" cy="23774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0" y="4206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239512" y="4133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Gradio app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239512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on Hugging Face Spaces for public access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0" y="4617720"/>
            <a:ext cx="9144000" cy="530352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Medina  ·  ITAI 1378 Computer Vision  ·  San Antonio College</a:t>
            </a:r>
            <a:endParaRPr lang="en-US" sz="1000" dirty="0"/>
          </a:p>
        </p:txBody>
      </p:sp>
      <p:sp>
        <p:nvSpPr>
          <p:cNvPr id="79" name="Text 77">
            <a:hlinkClick r:id="rId1" tooltip=""/>
          </p:cNvPr>
          <p:cNvSpPr/>
          <p:nvPr/>
        </p:nvSpPr>
        <p:spPr>
          <a:xfrm>
            <a:off x="676656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0AADA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github.com/med27-coder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Exoplanet Detection — CV Portfolio</dc:title>
  <dc:subject>PptxGenJS Presentation</dc:subject>
  <dc:creator>Francisco Medina</dc:creator>
  <cp:lastModifiedBy>Francisco Medina</cp:lastModifiedBy>
  <cp:revision>1</cp:revision>
  <dcterms:created xsi:type="dcterms:W3CDTF">2026-05-11T18:41:21Z</dcterms:created>
  <dcterms:modified xsi:type="dcterms:W3CDTF">2026-05-11T18:41:21Z</dcterms:modified>
</cp:coreProperties>
</file>