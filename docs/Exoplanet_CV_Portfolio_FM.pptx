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15"/>
    <p:sldId id="265" r:id="rId16"/>
    <p:sldId id="266" r:id="rId17"/>
    <p:sldId id="267" r:id="rId18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V3 rebuilt the data and the model. Test numbers are on held-out stars that never appear in training; cross-validation confirms them across five different splits.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the Kepler field, one pixel per star, over the Gaia Milky Way. Right: Kepler-90, eight planets, with the live light-curve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Interactive extras: zoom and true scale, the depth view, and easter eggs for the Solar System, spacecraft beyond Earth orbit, and the 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and reliability work that keeps the project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med27-coder/cv-project-kepler-exoplanet-detection-inventor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med27-coder/cv-project-kepler-exoplanet-detection-inventor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5143500"/>
            <a:ext cx="27432" cy="2743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2811" y="106925"/>
            <a:ext cx="41148" cy="41148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956" y="4724691"/>
            <a:ext cx="54864" cy="54864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9445" y="909719"/>
            <a:ext cx="27432" cy="27432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8519" y="3604668"/>
            <a:ext cx="41148" cy="41148"/>
          </a:xfrm>
          <a:prstGeom prst="ellipse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7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99121" y="2253835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94441" y="2148225"/>
            <a:ext cx="27432" cy="27432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86380" y="3701497"/>
            <a:ext cx="41148" cy="41148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0025" y="829723"/>
            <a:ext cx="54864" cy="54864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75559" y="4781200"/>
            <a:ext cx="27432" cy="27432"/>
          </a:xfrm>
          <a:prstGeom prst="ellipse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7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1959" y="78600"/>
            <a:ext cx="41148" cy="4114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1" y="5141285"/>
            <a:ext cx="54864" cy="54864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54920" y="139495"/>
            <a:ext cx="27432" cy="27432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74536" y="4664473"/>
            <a:ext cx="41148" cy="41148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39933" y="992576"/>
            <a:ext cx="54864" cy="54864"/>
          </a:xfrm>
          <a:prstGeom prst="ellipse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7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39490" y="3506061"/>
            <a:ext cx="27432" cy="2743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0752" y="2359993"/>
            <a:ext cx="41148" cy="41148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78123" y="2043344"/>
            <a:ext cx="54864" cy="54864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85545" y="3796380"/>
            <a:ext cx="27432" cy="27432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447" y="752728"/>
            <a:ext cx="41148" cy="41148"/>
          </a:xfrm>
          <a:prstGeom prst="ellipse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7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153" y="4833905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91655" y="54568"/>
            <a:ext cx="27432" cy="27432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55718" y="5134646"/>
            <a:ext cx="41148" cy="41148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12475" y="176254"/>
            <a:ext cx="54864" cy="54864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09586" y="4600652"/>
            <a:ext cx="27432" cy="27432"/>
          </a:xfrm>
          <a:prstGeom prst="ellipse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7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44621" y="1078153"/>
            <a:ext cx="41148" cy="4114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68254" y="3405844"/>
            <a:ext cx="54864" cy="54864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9648" y="2466516"/>
            <a:ext cx="27432" cy="27432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6" y="1939373"/>
            <a:ext cx="41148" cy="41148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32564" y="3889154"/>
            <a:ext cx="54864" cy="54864"/>
          </a:xfrm>
          <a:prstGeom prst="ellipse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7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66331" y="678866"/>
            <a:ext cx="27432" cy="2743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06890" y="4882713"/>
            <a:ext cx="41148" cy="41148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53328" y="34872"/>
            <a:ext cx="54864" cy="54864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15394" y="5123592"/>
            <a:ext cx="27432" cy="27432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67300" y="217139"/>
            <a:ext cx="41148" cy="41148"/>
          </a:xfrm>
          <a:prstGeom prst="ellipse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7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07948" y="4533336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8802" y="1166302"/>
            <a:ext cx="27432" cy="27432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6959" y="3304191"/>
            <a:ext cx="41148" cy="41148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55114" y="2573220"/>
            <a:ext cx="54864" cy="54864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74310" y="1836491"/>
            <a:ext cx="27432" cy="27432"/>
          </a:xfrm>
          <a:prstGeom prst="ellipse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7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33550" y="3979659"/>
            <a:ext cx="41148" cy="4114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26302" y="608264"/>
            <a:ext cx="54864" cy="54864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97482" y="4927542"/>
            <a:ext cx="27432" cy="27432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75437" y="19544"/>
            <a:ext cx="41148" cy="41148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00664" y="5108144"/>
            <a:ext cx="54864" cy="54864"/>
          </a:xfrm>
          <a:prstGeom prst="ellipse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7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0541" y="262078"/>
            <a:ext cx="27432" cy="2743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0345" y="4462642"/>
            <a:ext cx="41148" cy="41148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67861" y="1256872"/>
            <a:ext cx="54864" cy="54864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08216" y="3201277"/>
            <a:ext cx="27432" cy="27432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59627" y="2679922"/>
            <a:ext cx="41148" cy="41148"/>
          </a:xfrm>
          <a:prstGeom prst="ellipse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7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825405" y="1734875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622995" y="4067740"/>
            <a:ext cx="27432" cy="27432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375082" y="541043"/>
            <a:ext cx="41148" cy="41148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7303" y="4968314"/>
            <a:ext cx="54864" cy="54864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274" y="8612"/>
            <a:ext cx="27432" cy="27432"/>
          </a:xfrm>
          <a:prstGeom prst="ellipse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7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-731520" y="822960"/>
            <a:ext cx="2926080" cy="2926080"/>
          </a:xfrm>
          <a:prstGeom prst="ellipse">
            <a:avLst/>
          </a:prstGeom>
          <a:solidFill>
            <a:srgbClr val="1A3A6E"/>
          </a:solidFill>
          <a:ln w="25400">
            <a:solidFill>
              <a:srgbClr val="2A5FA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-457200" y="1005840"/>
            <a:ext cx="2377440" cy="2377440"/>
          </a:xfrm>
          <a:prstGeom prst="ellipse">
            <a:avLst/>
          </a:prstGeom>
          <a:solidFill>
            <a:srgbClr val="0F2A55">
              <a:alpha val="80000"/>
            </a:srgbClr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86000" y="91440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🪐 Exoplanet Detection</a:t>
            </a:r>
            <a:endParaRPr lang="en-US" sz="3800" dirty="0"/>
          </a:p>
        </p:txBody>
      </p:sp>
      <p:sp>
        <p:nvSpPr>
          <p:cNvPr id="60" name="Text 58"/>
          <p:cNvSpPr/>
          <p:nvPr/>
        </p:nvSpPr>
        <p:spPr>
          <a:xfrm>
            <a:off x="2286000" y="18288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E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Kepler Light Curves</a:t>
            </a:r>
            <a:endParaRPr lang="en-US" sz="2600" dirty="0"/>
          </a:p>
        </p:txBody>
      </p:sp>
      <p:sp>
        <p:nvSpPr>
          <p:cNvPr id="61" name="Shape 59"/>
          <p:cNvSpPr/>
          <p:nvPr/>
        </p:nvSpPr>
        <p:spPr>
          <a:xfrm>
            <a:off x="2286000" y="2514600"/>
            <a:ext cx="5029200" cy="36576"/>
          </a:xfrm>
          <a:prstGeom prst="rect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86000" y="26517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AstroNet-Inspired 1D CNN  ·  Computer Vision ITAI 1378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2286000" y="30632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Medina  ·  San Antonio College  ·  med27-coder</a:t>
            </a:r>
            <a:endParaRPr lang="en-US" sz="1300" dirty="0"/>
          </a:p>
        </p:txBody>
      </p:sp>
      <p:sp>
        <p:nvSpPr>
          <p:cNvPr id="64" name="Text 62">
            <a:hlinkClick r:id="rId1" tooltip=""/>
          </p:cNvPr>
          <p:cNvSpPr/>
          <p:nvPr/>
        </p:nvSpPr>
        <p:spPr>
          <a:xfrm>
            <a:off x="2286000" y="44348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u="sng" dirty="0">
                <a:solidFill>
                  <a:srgbClr val="0AADA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github.com/med27-coder/cv-project-kepler-exoplanet-detection-inventory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Kepler telescope detects a star dimming, it could mean a planet passed in front — or it could be a false alarm (eclipsing binary, instrumental noise, etc.).
</a:t>
            </a:r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can't keep up with the scale of data. Machine learning can.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188720"/>
            <a:ext cx="0" cy="320040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6320" y="1636776"/>
            <a:ext cx="310896" cy="310896"/>
          </a:xfrm>
          <a:prstGeom prst="ellipse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636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30368" y="1600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KOI catalog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30368" y="18470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Exoplanet Archive 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2203704"/>
            <a:ext cx="310896" cy="310896"/>
          </a:xfrm>
          <a:prstGeom prst="ellipse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203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30368" y="21671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light curves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30368" y="24140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MAST via lightkurve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770632"/>
            <a:ext cx="310896" cy="310896"/>
          </a:xfrm>
          <a:prstGeom prst="ellipse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77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30368" y="27340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Phase-fold &amp; normalize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30368" y="298094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201-bin time series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337560"/>
            <a:ext cx="310896" cy="310896"/>
          </a:xfrm>
          <a:prstGeom prst="ellipse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337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30368" y="33009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1D CNN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30368" y="35478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AstroNet-inspired architecture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904488"/>
            <a:ext cx="310896" cy="310896"/>
          </a:xfrm>
          <a:prstGeom prst="ellipse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904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30368" y="38679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predict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30368" y="4114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 ROC, PR curve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389120"/>
            <a:ext cx="9144000" cy="758952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453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5720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KOIs Processed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651760" y="4453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265176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Bins / Sample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4453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&gt;80%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84632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Target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40880" y="4453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04088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Plan  —  Version 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0" y="228600"/>
            <a:ext cx="1645920" cy="548640"/>
          </a:xfrm>
          <a:prstGeom prst="rect">
            <a:avLst>
              <a:gd name="adj" fmla="val 10000"/>
            </a:avLst>
          </a:prstGeom>
          <a:solidFill>
            <a:srgbClr val="1A3A6E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228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 /  Initial Design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914400"/>
          </a:xfrm>
          <a:prstGeom prst="rect">
            <a:avLst/>
          </a:prstGeom>
          <a:solidFill>
            <a:srgbClr val="132140"/>
          </a:solidFill>
          <a:ln w="12700">
            <a:solidFill>
              <a:srgbClr val="1E3D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Dependencies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57276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fsspec pin + lightkurve + scikit-learn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114800" cy="914400"/>
          </a:xfrm>
          <a:prstGeom prst="rect">
            <a:avLst/>
          </a:prstGeom>
          <a:solidFill>
            <a:srgbClr val="132140"/>
          </a:solidFill>
          <a:ln w="12700">
            <a:solidFill>
              <a:srgbClr val="1E3D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65192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Dataset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65192" y="157276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CONFIRMED + 200 FALSE POSITIVE = 400 total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4114800" cy="914400"/>
          </a:xfrm>
          <a:prstGeom prst="rect">
            <a:avLst/>
          </a:prstGeom>
          <a:solidFill>
            <a:srgbClr val="132140"/>
          </a:solidFill>
          <a:ln w="12700">
            <a:solidFill>
              <a:srgbClr val="1E3D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Light Curves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267004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download, single-threaded tqdm loop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286000"/>
            <a:ext cx="4114800" cy="914400"/>
          </a:xfrm>
          <a:prstGeom prst="rect">
            <a:avLst/>
          </a:prstGeom>
          <a:solidFill>
            <a:srgbClr val="132140"/>
          </a:solidFill>
          <a:ln w="12700">
            <a:solidFill>
              <a:srgbClr val="1E3D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65192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Architecture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65192" y="267004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 ×4 → Dense(512) → Dense(256) → sigmoid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383280"/>
            <a:ext cx="4114800" cy="914400"/>
          </a:xfrm>
          <a:prstGeom prst="rect">
            <a:avLst/>
          </a:prstGeom>
          <a:solidFill>
            <a:srgbClr val="132140"/>
          </a:solidFill>
          <a:ln w="12700">
            <a:solidFill>
              <a:srgbClr val="1E3D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0352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Evaluation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" y="376732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· ROC curve · PR curve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383280"/>
            <a:ext cx="4114800" cy="914400"/>
          </a:xfrm>
          <a:prstGeom prst="rect">
            <a:avLst/>
          </a:prstGeom>
          <a:solidFill>
            <a:srgbClr val="132140"/>
          </a:solidFill>
          <a:ln w="12700">
            <a:solidFill>
              <a:srgbClr val="1E3D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65192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Output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65192" y="376732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.h5 model + download plots via google.colab.files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the baseline design. Most steps worked as intended, but several practical constraints led to improvements in V1.5.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Implemented  —  Version 1.5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0" y="228600"/>
            <a:ext cx="1645920" cy="548640"/>
          </a:xfrm>
          <a:prstGeom prst="rect">
            <a:avLst/>
          </a:prstGeom>
          <a:solidFill>
            <a:srgbClr val="2A1A0A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228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V1.5  /  Final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64008" cy="10058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1143000"/>
            <a:ext cx="4050792" cy="1005840"/>
          </a:xfrm>
          <a:prstGeom prst="rect">
            <a:avLst/>
          </a:prstGeom>
          <a:solidFill>
            <a:srgbClr val="132140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07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×2.5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481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200 → 500 per class (1,000 total)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1737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MAST servers stable; more data, better generalization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143000"/>
            <a:ext cx="64008" cy="10058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64608" y="1143000"/>
            <a:ext cx="4050792" cy="1005840"/>
          </a:xfrm>
          <a:prstGeom prst="rect">
            <a:avLst/>
          </a:prstGeom>
          <a:solidFill>
            <a:srgbClr val="132140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1207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Checkpoints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01768" y="1481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Cache arrays to Drive after download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01768" y="1737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Colab session timeouts killed 30-min downloads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331720"/>
            <a:ext cx="64008" cy="10058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" y="2331720"/>
            <a:ext cx="4050792" cy="1005840"/>
          </a:xfrm>
          <a:prstGeom prst="rect">
            <a:avLst/>
          </a:prstGeom>
          <a:solidFill>
            <a:srgbClr val="132140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395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Downloads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2670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ThreadPoolExecutor, 10 workers, 15s timeout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Sequential loop was ~4× slower for 1,000 KOIs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331720"/>
            <a:ext cx="64008" cy="10058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64608" y="2331720"/>
            <a:ext cx="4050792" cy="1005840"/>
          </a:xfrm>
          <a:prstGeom prst="rect">
            <a:avLst/>
          </a:prstGeom>
          <a:solidFill>
            <a:srgbClr val="132140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2395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Added (Step 2.5)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01768" y="2670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Period · Duration · Depth distribution plots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01768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Visual justification for CNN approach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520440"/>
            <a:ext cx="64008" cy="10058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" y="3520440"/>
            <a:ext cx="4050792" cy="1005840"/>
          </a:xfrm>
          <a:prstGeom prst="rect">
            <a:avLst/>
          </a:prstGeom>
          <a:solidFill>
            <a:srgbClr val="132140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584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Web App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" y="3858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Live KOI lookup + CNN prediction UI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6928" y="41148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Interactive demo extends the project's usability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3520440"/>
            <a:ext cx="64008" cy="10058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64608" y="3520440"/>
            <a:ext cx="4050792" cy="1005840"/>
          </a:xfrm>
          <a:prstGeom prst="rect">
            <a:avLst/>
          </a:prstGeom>
          <a:solidFill>
            <a:srgbClr val="132140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01768" y="3584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Comparison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01768" y="3858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Untrained vs. trained model side-by-side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01768" y="41148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Concrete proof that learning happened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Architecture &amp; Data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280160" cy="822960"/>
          </a:xfrm>
          <a:prstGeom prst="rect">
            <a:avLst/>
          </a:prstGeom>
          <a:solidFill>
            <a:srgbClr val="1A3A6E"/>
          </a:solidFill>
          <a:ln w="12700">
            <a:solidFill>
              <a:srgbClr val="AAAA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34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60934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Archive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 entries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0" y="1536192"/>
            <a:ext cx="402336" cy="128016"/>
          </a:xfrm>
          <a:prstGeom prst="rect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48256" y="1188720"/>
            <a:ext cx="1280160" cy="822960"/>
          </a:xfrm>
          <a:prstGeom prst="rect">
            <a:avLst/>
          </a:prstGeom>
          <a:solidFill>
            <a:srgbClr val="1A3A6E"/>
          </a:solidFill>
          <a:ln w="12700">
            <a:solidFill>
              <a:srgbClr val="AAAA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48256" y="1234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48256" y="160934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lightkurve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bins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28416" y="1536192"/>
            <a:ext cx="402336" cy="128016"/>
          </a:xfrm>
          <a:prstGeom prst="rect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30752" y="1188720"/>
            <a:ext cx="1280160" cy="822960"/>
          </a:xfrm>
          <a:prstGeom prst="rect">
            <a:avLst/>
          </a:prstGeom>
          <a:solidFill>
            <a:srgbClr val="1A3A6E"/>
          </a:solidFill>
          <a:ln w="12700">
            <a:solidFill>
              <a:srgbClr val="AAAA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30752" y="1234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30752" y="160934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10912" y="1536192"/>
            <a:ext cx="402336" cy="128016"/>
          </a:xfrm>
          <a:prstGeom prst="rect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3248" y="1188720"/>
            <a:ext cx="1280160" cy="822960"/>
          </a:xfrm>
          <a:prstGeom prst="rect">
            <a:avLst/>
          </a:prstGeom>
          <a:solidFill>
            <a:srgbClr val="0AADA4"/>
          </a:solidFill>
          <a:ln w="12700">
            <a:solidFill>
              <a:srgbClr val="AAAA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13248" y="1234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CNN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13248" y="160934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Conv blocks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Dense head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93408" y="1536192"/>
            <a:ext cx="402336" cy="128016"/>
          </a:xfrm>
          <a:prstGeom prst="rect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95744" y="1188720"/>
            <a:ext cx="1280160" cy="822960"/>
          </a:xfrm>
          <a:prstGeom prst="rect">
            <a:avLst/>
          </a:prstGeom>
          <a:solidFill>
            <a:srgbClr val="1A4A2E"/>
          </a:solidFill>
          <a:ln w="12700">
            <a:solidFill>
              <a:srgbClr val="AAAA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95744" y="1234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95744" y="160934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 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Layers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2606040"/>
            <a:ext cx="3657600" cy="274320"/>
          </a:xfrm>
          <a:prstGeom prst="rect">
            <a:avLst/>
          </a:prstGeom>
          <a:solidFill>
            <a:srgbClr val="0F1E3C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Conv1D(16, k=5) + MaxPool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(201, 1)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2935224"/>
            <a:ext cx="3657600" cy="274320"/>
          </a:xfrm>
          <a:prstGeom prst="rect">
            <a:avLst/>
          </a:prstGeom>
          <a:solidFill>
            <a:srgbClr val="0F1E3C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9352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Conv1D(32, k=5) + MaxPool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0" y="29352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(100, 16)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264408"/>
            <a:ext cx="3657600" cy="274320"/>
          </a:xfrm>
          <a:prstGeom prst="rect">
            <a:avLst/>
          </a:prstGeom>
          <a:solidFill>
            <a:srgbClr val="0F1E3C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2644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Conv1D(64, k=5) + MaxPool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0" y="3264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(50, 32)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593592"/>
            <a:ext cx="3657600" cy="274320"/>
          </a:xfrm>
          <a:prstGeom prst="rect">
            <a:avLst/>
          </a:prstGeom>
          <a:solidFill>
            <a:srgbClr val="0F1E3C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593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Conv1D(128, k=5) + MaxPool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0" y="3593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(25, 64)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3922776"/>
            <a:ext cx="3657600" cy="274320"/>
          </a:xfrm>
          <a:prstGeom prst="rect">
            <a:avLst/>
          </a:prstGeom>
          <a:solidFill>
            <a:srgbClr val="0F1E3C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9227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Dense(512, relu) + Drop 50%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14800" y="39227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(12, 128) → Flatten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4251960"/>
            <a:ext cx="3657600" cy="274320"/>
          </a:xfrm>
          <a:prstGeom prst="rect">
            <a:avLst/>
          </a:prstGeom>
          <a:solidFill>
            <a:srgbClr val="0F1E3C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251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Dense(256, relu) + Drop 30%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1480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(512,)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4581144"/>
            <a:ext cx="3657600" cy="274320"/>
          </a:xfrm>
          <a:prstGeom prst="rect">
            <a:avLst/>
          </a:prstGeom>
          <a:solidFill>
            <a:srgbClr val="0AADA4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5811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Dense(1, sigmoid)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114800" y="45811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(256,)  →  Planet / FP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0936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309360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58952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(lr = 1e-4)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09360" y="29352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589520" y="2935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309360" y="3264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589520" y="3264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+ Early Stopping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309360" y="3593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589520" y="3593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309360" y="39227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589520" y="39227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309360" y="4251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Split: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58952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of train set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309360" y="45811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589520" y="45811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T4 GPU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920240" cy="1463040"/>
          </a:xfrm>
          <a:prstGeom prst="rect">
            <a:avLst/>
          </a:prstGeom>
          <a:solidFill>
            <a:srgbClr val="132140"/>
          </a:solidFill>
          <a:ln w="12700">
            <a:solidFill>
              <a:srgbClr val="3D9B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9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 80%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2585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V3: 97.2%   (V1.5: 70.4%)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143000"/>
            <a:ext cx="1920240" cy="1463040"/>
          </a:xfrm>
          <a:prstGeom prst="rect">
            <a:avLst/>
          </a:prstGeom>
          <a:solidFill>
            <a:srgbClr val="132140"/>
          </a:solidFill>
          <a:ln w="12700">
            <a:solidFill>
              <a:srgbClr val="0AAD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468880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68880" y="1627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(ROC)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A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 0.85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2585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V3: 0.994   (V1.5: 0.771)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143000"/>
            <a:ext cx="1920240" cy="1463040"/>
          </a:xfrm>
          <a:prstGeom prst="rect">
            <a:avLst/>
          </a:prstGeom>
          <a:solidFill>
            <a:srgbClr val="132140"/>
          </a:solidFill>
          <a:ln w="1270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0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1627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 80%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22585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V3: 95.7%   (V1.5: 72.7%)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75120" y="1143000"/>
            <a:ext cx="1920240" cy="1463040"/>
          </a:xfrm>
          <a:prstGeom prst="rect">
            <a:avLst/>
          </a:prstGeom>
          <a:solidFill>
            <a:srgbClr val="132140"/>
          </a:solidFill>
          <a:ln w="12700">
            <a:solidFill>
              <a:srgbClr val="9C59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675120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75120" y="1627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5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 80%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22585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V3: 96.7%   (V1.5: 73.6%)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Outputs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65760" y="3319272"/>
            <a:ext cx="182880" cy="182880"/>
          </a:xfrm>
          <a:prstGeom prst="ellipse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12648" y="3246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" y="34655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 planet counts on test set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3319272"/>
            <a:ext cx="182880" cy="182880"/>
          </a:xfrm>
          <a:prstGeom prst="ellipse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047488" y="3246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— 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47488" y="34655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measures overall discrimination ability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794760"/>
            <a:ext cx="182880" cy="182880"/>
          </a:xfrm>
          <a:prstGeom prst="ellipse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12648" y="3721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Curve — 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" y="39410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— best for class-imbalanced scenarios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3794760"/>
            <a:ext cx="182880" cy="182880"/>
          </a:xfrm>
          <a:prstGeom prst="ellipse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047488" y="3721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Phase-folded Predictions — 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47488" y="39410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Visual: correct vs. incorrect per light curve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270248"/>
            <a:ext cx="182880" cy="182880"/>
          </a:xfrm>
          <a:prstGeom prst="ellipse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12648" y="41970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vs. After Training — 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2648" y="44165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Untrained (~50%) → trained model comparison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0600" y="4270248"/>
            <a:ext cx="182880" cy="182880"/>
          </a:xfrm>
          <a:prstGeom prst="ellipse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047488" y="41970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 Overlay —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47488" y="44165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AUC, and loss across epochs + test line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Key Methods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2560320"/>
          </a:xfrm>
          <a:prstGeom prst="rect">
            <a:avLst/>
          </a:prstGeom>
          <a:solidFill>
            <a:srgbClr val="1A3A6E"/>
          </a:solidFill>
          <a:ln w="12700">
            <a:solidFill>
              <a:srgbClr val="0AAD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594360" cy="594360"/>
          </a:xfrm>
          <a:prstGeom prst="rect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24128" y="12161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Exoplanet Archive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5270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/ Metadata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exoplanetarchive.ipac.caltech.edu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167128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Cumulative Table downloaded via the NStED REST API. Provides kepid, orbital period, epoch, and disposition (CONFIRMED / FALSE POSITIVE) for ~9,000 Kepler Objects of Interest.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1143000"/>
            <a:ext cx="4114800" cy="2560320"/>
          </a:xfrm>
          <a:prstGeom prst="rect">
            <a:avLst/>
          </a:prstGeom>
          <a:solidFill>
            <a:srgbClr val="1A3A6E"/>
          </a:solidFill>
          <a:ln w="12700">
            <a:solidFill>
              <a:srgbClr val="0AAD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143000"/>
            <a:ext cx="594360" cy="594360"/>
          </a:xfrm>
          <a:prstGeom prst="rect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58968" y="12161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MAST Archive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58968" y="15270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Photometry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8745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mast.stsci.edu  (via lightkurve)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167128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Long-cadence Kepler light curves fetched on-demand per star using the lightkurve Python library. Each light curve is flattened, phase-folded by orbital period, binned to 201 samples, and z-score normalized.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201168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79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Folding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553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transit signals by orbital period for a clean dip shape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14600" y="4251960"/>
            <a:ext cx="201168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06040" y="4279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Normalization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06040" y="4553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removes stellar variability; isolates transit depth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4251960"/>
            <a:ext cx="201168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4279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Filters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4553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&lt;10% NaN bins, std &gt; 1e-4; rejects corrupted curves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12280" y="4251960"/>
            <a:ext cx="201168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4279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03720" y="4553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confirmed vs. FP samples prevents class bias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5143500"/>
            <a:ext cx="22860" cy="2286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250199" y="72518"/>
            <a:ext cx="33833" cy="33833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36887" y="4857517"/>
            <a:ext cx="44806" cy="4480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620640" y="628356"/>
            <a:ext cx="55778" cy="55778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062931" y="4063171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2932" y="1616412"/>
            <a:ext cx="33833" cy="33833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3883" y="2937128"/>
            <a:ext cx="44806" cy="4480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116214" y="2816938"/>
            <a:ext cx="55778" cy="5577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583806" y="1729824"/>
            <a:ext cx="22860" cy="228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37342" y="3962933"/>
            <a:ext cx="33833" cy="33833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967282" y="709767"/>
            <a:ext cx="44806" cy="44806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466573" y="4799525"/>
            <a:ext cx="55778" cy="55778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070039" y="103821"/>
            <a:ext cx="22860" cy="2286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741452" y="5140651"/>
            <a:ext cx="33833" cy="33833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44214" y="46752"/>
            <a:ext cx="44806" cy="4480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12457" y="4910445"/>
            <a:ext cx="55778" cy="55778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545436" y="551251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19607" y="4160105"/>
            <a:ext cx="33833" cy="33833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579711" y="1505116"/>
            <a:ext cx="44806" cy="4480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416914" y="3056510"/>
            <a:ext cx="55778" cy="5577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2151631" y="2696204"/>
            <a:ext cx="22860" cy="228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053206" y="1845102"/>
            <a:ext cx="33833" cy="33833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34204" y="3859613"/>
            <a:ext cx="44806" cy="44806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227349" y="795303"/>
            <a:ext cx="55778" cy="55778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409202" y="4736597"/>
            <a:ext cx="22860" cy="2286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7710" y="140592"/>
            <a:ext cx="33833" cy="33833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993396" y="5132111"/>
            <a:ext cx="44806" cy="4480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424538" y="26579"/>
            <a:ext cx="55778" cy="55778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353250" y="4958193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142734" y="478621"/>
            <a:ext cx="33833" cy="33833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509554" y="4253521"/>
            <a:ext cx="44806" cy="4480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4209742" y="1396183"/>
            <a:ext cx="55778" cy="5577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132269" y="3174817"/>
            <a:ext cx="22860" cy="228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1664" y="2575194"/>
            <a:ext cx="33833" cy="33833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7237411" y="1961989"/>
            <a:ext cx="44806" cy="44806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5439474" y="3753440"/>
            <a:ext cx="55778" cy="55778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714489" y="884774"/>
            <a:ext cx="22860" cy="2286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9005597" y="4668873"/>
            <a:ext cx="33833" cy="33833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2336772" y="182749"/>
            <a:ext cx="44806" cy="4480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3210099" y="5117899"/>
            <a:ext cx="55778" cy="55778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Next Steps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36576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65760" y="1572768"/>
            <a:ext cx="54864" cy="274320"/>
          </a:xfrm>
          <a:prstGeom prst="rect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502920" y="15727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 is messy — quality filters are as important as the model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5760" y="2084832"/>
            <a:ext cx="54864" cy="274320"/>
          </a:xfrm>
          <a:prstGeom prst="rect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02920" y="208483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long jobs: resume after a timeout or restart, never start over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65760" y="2596896"/>
            <a:ext cx="54864" cy="274320"/>
          </a:xfrm>
          <a:prstGeom prst="rect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502920" y="259689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downloads cut pipeline time by ~4× with minimal added complexity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65760" y="3108960"/>
            <a:ext cx="54864" cy="274320"/>
          </a:xfrm>
          <a:prstGeom prst="rect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502920" y="310896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before training builds intuition for what the model should learn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65760" y="3621024"/>
            <a:ext cx="54864" cy="274320"/>
          </a:xfrm>
          <a:prstGeom prst="rect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502920" y="362102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AstroNet-style phase-folding turns a raw time series into a learnable signal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663440" y="1143000"/>
            <a:ext cx="0" cy="329184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493776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937760" y="1645920"/>
            <a:ext cx="237744" cy="237744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4937760" y="16459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239512" y="15727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&amp; scoreboard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239512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grouped folds; check predictions as NASA decides candidates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937760" y="2286000"/>
            <a:ext cx="237744" cy="237744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4937760" y="22860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239512" y="22128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 transfer test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239512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Kepler planets TESS re-observed, using TESS light curves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937760" y="2926080"/>
            <a:ext cx="237744" cy="237744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4937760" y="29260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239512" y="28529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Gaia stellar features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239512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do Gaia radii, masses and ages help?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937760" y="3566160"/>
            <a:ext cx="237744" cy="237744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4937760" y="3566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5239512" y="34930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transit sparklines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5239512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planet's own folded Kepler light curve on the map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937760" y="4206240"/>
            <a:ext cx="237744" cy="237744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4937760" y="4206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5239512" y="41330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demo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5239512" y="4389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app on Hugging Face Spaces (encrypted model)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0" y="4617720"/>
            <a:ext cx="9144000" cy="530352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365760" y="4663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Medina  ·  ITAI 1378 Computer Vision  ·  San Antonio College</a:t>
            </a:r>
            <a:endParaRPr lang="en-US" sz="1000" dirty="0"/>
          </a:p>
        </p:txBody>
      </p:sp>
      <p:sp>
        <p:nvSpPr>
          <p:cNvPr id="79" name="Text 77">
            <a:hlinkClick r:id="rId1" tooltip=""/>
          </p:cNvPr>
          <p:cNvSpPr/>
          <p:nvPr/>
        </p:nvSpPr>
        <p:spPr>
          <a:xfrm>
            <a:off x="676656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AADA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github.com/med27-coder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nd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457200" y="256032"/>
            <a:ext cx="6583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Version 3  —  Star Gazer</a:t>
            </a:r>
          </a:p>
        </p:txBody>
      </p:sp>
      <p:sp>
        <p:nvSpPr>
          <p:cNvPr id="4" name="Badge"/>
          <p:cNvSpPr/>
          <p:nvPr/>
        </p:nvSpPr>
        <p:spPr>
          <a:xfrm>
            <a:off x="7132320" y="228600"/>
            <a:ext cx="1645920" cy="548640"/>
          </a:xfrm>
          <a:prstGeom prst="rect">
            <a:avLst/>
          </a:prstGeom>
          <a:solidFill>
            <a:srgbClr val="0F1E3C"/>
          </a:solidFill>
          <a:ln w="12700">
            <a:solidFill>
              <a:srgbClr val="0AA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3931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AADA4"/>
                </a:solidFill>
                <a:latin typeface="Calibri"/>
              </a:rPr>
              <a:t>V3  /  Star Gazer</a:t>
            </a:r>
          </a:p>
        </p:txBody>
      </p:sp>
      <p:sp>
        <p:nvSpPr>
          <p:cNvPr id="6" name="Card 1"/>
          <p:cNvSpPr/>
          <p:nvPr/>
        </p:nvSpPr>
        <p:spPr>
          <a:xfrm>
            <a:off x="365760" y="1115568"/>
            <a:ext cx="2697480" cy="1298448"/>
          </a:xfrm>
          <a:prstGeom prst="rect">
            <a:avLst/>
          </a:prstGeom>
          <a:solidFill>
            <a:srgbClr val="132140"/>
          </a:solidFill>
          <a:ln w="12700">
            <a:solidFill>
              <a:srgbClr val="2E4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1 number"/>
          <p:cNvSpPr/>
          <p:nvPr/>
        </p:nvSpPr>
        <p:spPr>
          <a:xfrm>
            <a:off x="502920" y="1252728"/>
            <a:ext cx="292608" cy="292608"/>
          </a:xfrm>
          <a:prstGeom prst="ellipse">
            <a:avLst/>
          </a:prstGeom>
          <a:solidFill>
            <a:srgbClr val="0A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2926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B1120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271016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ADA4"/>
                </a:solidFill>
                <a:latin typeface="Calibri"/>
              </a:rPr>
              <a:t>All ~17 quarters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45919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4 years per star, stitched; known transits masked before detrending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66543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CAABF"/>
                </a:solidFill>
                <a:latin typeface="Calibri"/>
              </a:rPr>
              <a:t>Long-period planets transit at least once</a:t>
            </a:r>
          </a:p>
        </p:txBody>
      </p:sp>
      <p:sp>
        <p:nvSpPr>
          <p:cNvPr id="12" name="Card 2"/>
          <p:cNvSpPr/>
          <p:nvPr/>
        </p:nvSpPr>
        <p:spPr>
          <a:xfrm>
            <a:off x="3200400" y="1115568"/>
            <a:ext cx="2697480" cy="1298448"/>
          </a:xfrm>
          <a:prstGeom prst="rect">
            <a:avLst/>
          </a:prstGeom>
          <a:solidFill>
            <a:srgbClr val="132140"/>
          </a:solidFill>
          <a:ln w="12700">
            <a:solidFill>
              <a:srgbClr val="2E4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2 number"/>
          <p:cNvSpPr/>
          <p:nvPr/>
        </p:nvSpPr>
        <p:spPr>
          <a:xfrm>
            <a:off x="3337560" y="1252728"/>
            <a:ext cx="292608" cy="292608"/>
          </a:xfrm>
          <a:prstGeom prst="ellipse">
            <a:avLst/>
          </a:prstGeom>
          <a:solidFill>
            <a:srgbClr val="0A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337560" y="1298448"/>
            <a:ext cx="2926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B1120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1271016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ADA4"/>
                </a:solidFill>
                <a:latin typeface="Calibri"/>
              </a:rPr>
              <a:t>Global + local 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645919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Whole orbit (2,001 bins) and transit close-up (201 bins)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066543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CAABF"/>
                </a:solidFill>
                <a:latin typeface="Calibri"/>
              </a:rPr>
              <a:t>AstroNet (Shallue &amp; Vanderburg 2018)</a:t>
            </a:r>
          </a:p>
        </p:txBody>
      </p:sp>
      <p:sp>
        <p:nvSpPr>
          <p:cNvPr id="18" name="Card 3"/>
          <p:cNvSpPr/>
          <p:nvPr/>
        </p:nvSpPr>
        <p:spPr>
          <a:xfrm>
            <a:off x="6035040" y="1115568"/>
            <a:ext cx="2697480" cy="1298448"/>
          </a:xfrm>
          <a:prstGeom prst="rect">
            <a:avLst/>
          </a:prstGeom>
          <a:solidFill>
            <a:srgbClr val="132140"/>
          </a:solidFill>
          <a:ln w="12700">
            <a:solidFill>
              <a:srgbClr val="2E4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3 number"/>
          <p:cNvSpPr/>
          <p:nvPr/>
        </p:nvSpPr>
        <p:spPr>
          <a:xfrm>
            <a:off x="6172200" y="1252728"/>
            <a:ext cx="292608" cy="292608"/>
          </a:xfrm>
          <a:prstGeom prst="ellipse">
            <a:avLst/>
          </a:prstGeom>
          <a:solidFill>
            <a:srgbClr val="0A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72200" y="1298448"/>
            <a:ext cx="2926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B1120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1271016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ADA4"/>
                </a:solidFill>
                <a:latin typeface="Calibri"/>
              </a:rPr>
              <a:t>Eclipsing-binary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1645919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Odd vs even transits, secondary eclipse, centroid shift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066543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CAABF"/>
                </a:solidFill>
                <a:latin typeface="Calibri"/>
              </a:rPr>
              <a:t>The common false-positive signatures (ExoMiner-style)</a:t>
            </a:r>
          </a:p>
        </p:txBody>
      </p:sp>
      <p:sp>
        <p:nvSpPr>
          <p:cNvPr id="24" name="Card 4"/>
          <p:cNvSpPr/>
          <p:nvPr/>
        </p:nvSpPr>
        <p:spPr>
          <a:xfrm>
            <a:off x="365760" y="2487168"/>
            <a:ext cx="2697480" cy="1298448"/>
          </a:xfrm>
          <a:prstGeom prst="rect">
            <a:avLst/>
          </a:prstGeom>
          <a:solidFill>
            <a:srgbClr val="132140"/>
          </a:solidFill>
          <a:ln w="12700">
            <a:solidFill>
              <a:srgbClr val="2E4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4 number"/>
          <p:cNvSpPr/>
          <p:nvPr/>
        </p:nvSpPr>
        <p:spPr>
          <a:xfrm>
            <a:off x="502920" y="2624327"/>
            <a:ext cx="292608" cy="292608"/>
          </a:xfrm>
          <a:prstGeom prst="ellipse">
            <a:avLst/>
          </a:prstGeom>
          <a:solidFill>
            <a:srgbClr val="0A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02920" y="2670048"/>
            <a:ext cx="2926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B1120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2642615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ADA4"/>
                </a:solidFill>
                <a:latin typeface="Calibri"/>
              </a:rPr>
              <a:t>Catalog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017520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NASA's transit fit and stellar parameters in their own branch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43814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CAABF"/>
                </a:solidFill>
                <a:latin typeface="Calibri"/>
              </a:rPr>
              <a:t>Radius, SNR and density separate planets from binaries</a:t>
            </a:r>
          </a:p>
        </p:txBody>
      </p:sp>
      <p:sp>
        <p:nvSpPr>
          <p:cNvPr id="30" name="Card 5"/>
          <p:cNvSpPr/>
          <p:nvPr/>
        </p:nvSpPr>
        <p:spPr>
          <a:xfrm>
            <a:off x="3200400" y="2487168"/>
            <a:ext cx="2697480" cy="1298448"/>
          </a:xfrm>
          <a:prstGeom prst="rect">
            <a:avLst/>
          </a:prstGeom>
          <a:solidFill>
            <a:srgbClr val="132140"/>
          </a:solidFill>
          <a:ln w="12700">
            <a:solidFill>
              <a:srgbClr val="2E4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ard 5 number"/>
          <p:cNvSpPr/>
          <p:nvPr/>
        </p:nvSpPr>
        <p:spPr>
          <a:xfrm>
            <a:off x="3337560" y="2624327"/>
            <a:ext cx="292608" cy="292608"/>
          </a:xfrm>
          <a:prstGeom prst="ellipse">
            <a:avLst/>
          </a:prstGeom>
          <a:solidFill>
            <a:srgbClr val="0A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337560" y="2670048"/>
            <a:ext cx="2926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B1120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30752" y="2642615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ADA4"/>
                </a:solidFill>
                <a:latin typeface="Calibri"/>
              </a:rPr>
              <a:t>Fair split + ensemble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3017520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No star in two splits; 5 networks averaged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343814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CAABF"/>
                </a:solidFill>
                <a:latin typeface="Calibri"/>
              </a:rPr>
              <a:t>Planets on one star can't leak into the test set</a:t>
            </a:r>
          </a:p>
        </p:txBody>
      </p:sp>
      <p:sp>
        <p:nvSpPr>
          <p:cNvPr id="36" name="Card 6"/>
          <p:cNvSpPr/>
          <p:nvPr/>
        </p:nvSpPr>
        <p:spPr>
          <a:xfrm>
            <a:off x="6035040" y="2487168"/>
            <a:ext cx="2697480" cy="1298448"/>
          </a:xfrm>
          <a:prstGeom prst="rect">
            <a:avLst/>
          </a:prstGeom>
          <a:solidFill>
            <a:srgbClr val="132140"/>
          </a:solidFill>
          <a:ln w="12700">
            <a:solidFill>
              <a:srgbClr val="2E4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ard 6 number"/>
          <p:cNvSpPr/>
          <p:nvPr/>
        </p:nvSpPr>
        <p:spPr>
          <a:xfrm>
            <a:off x="6172200" y="2624327"/>
            <a:ext cx="292608" cy="292608"/>
          </a:xfrm>
          <a:prstGeom prst="ellipse">
            <a:avLst/>
          </a:prstGeom>
          <a:solidFill>
            <a:srgbClr val="0A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172200" y="2670048"/>
            <a:ext cx="2926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B1120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5392" y="2642615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ADA4"/>
                </a:solidFill>
                <a:latin typeface="Calibri"/>
              </a:rPr>
              <a:t>Explainable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3017520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Occlusion saliency: which part of the light curve mattered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343814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CAABF"/>
                </a:solidFill>
                <a:latin typeface="Calibri"/>
              </a:rPr>
              <a:t>Shown in the web app for any KOI</a:t>
            </a:r>
          </a:p>
        </p:txBody>
      </p:sp>
      <p:sp>
        <p:nvSpPr>
          <p:cNvPr id="42" name="Stat band"/>
          <p:cNvSpPr/>
          <p:nvPr/>
        </p:nvSpPr>
        <p:spPr>
          <a:xfrm>
            <a:off x="0" y="3886200"/>
            <a:ext cx="9144000" cy="1257300"/>
          </a:xfrm>
          <a:prstGeom prst="rect">
            <a:avLst/>
          </a:prstGeom>
          <a:solidFill>
            <a:srgbClr val="0F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4041648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0AADA4"/>
                </a:solidFill>
                <a:latin typeface="Calibri"/>
              </a:rPr>
              <a:t>7,586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45720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CAABF"/>
                </a:solidFill>
                <a:latin typeface="Calibri"/>
              </a:rPr>
              <a:t>labelled KOIs with views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14600" y="4041648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0AADA4"/>
                </a:solidFill>
                <a:latin typeface="Calibri"/>
              </a:rPr>
              <a:t>6,640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14600" y="45720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CAABF"/>
                </a:solidFill>
                <a:latin typeface="Calibri"/>
              </a:rPr>
              <a:t>stars, grouped splits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4041648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5C518"/>
                </a:solidFill>
                <a:latin typeface="Calibri"/>
              </a:rPr>
              <a:t>97.2%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45720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CAABF"/>
                </a:solidFill>
                <a:latin typeface="Calibri"/>
              </a:rPr>
              <a:t>test accuracy (5-net ensemble)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4041648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5C518"/>
                </a:solidFill>
                <a:latin typeface="Calibri"/>
              </a:rPr>
              <a:t>0.994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80" y="45720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CAABF"/>
                </a:solidFill>
                <a:latin typeface="Calibri"/>
              </a:rPr>
              <a:t>test AUC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nd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457200" y="256032"/>
            <a:ext cx="6583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Kepler Star Map</a:t>
            </a:r>
          </a:p>
        </p:txBody>
      </p:sp>
      <p:sp>
        <p:nvSpPr>
          <p:cNvPr id="4" name="Badge"/>
          <p:cNvSpPr/>
          <p:nvPr/>
        </p:nvSpPr>
        <p:spPr>
          <a:xfrm>
            <a:off x="7132320" y="228600"/>
            <a:ext cx="1645920" cy="548640"/>
          </a:xfrm>
          <a:prstGeom prst="rect">
            <a:avLst/>
          </a:prstGeom>
          <a:solidFill>
            <a:srgbClr val="0F1E3C"/>
          </a:solidFill>
          <a:ln w="12700">
            <a:solidFill>
              <a:srgbClr val="F5C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3931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  <a:latin typeface="Calibri"/>
              </a:rPr>
              <a:t>LIVE  /  WEB</a:t>
            </a:r>
          </a:p>
        </p:txBody>
      </p:sp>
      <p:pic>
        <p:nvPicPr>
          <p:cNvPr id="6" name="Map screenshot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18" y="1143000"/>
            <a:ext cx="3238482" cy="3246119"/>
          </a:xfrm>
          <a:prstGeom prst="rect">
            <a:avLst/>
          </a:prstGeom>
          <a:ln w="12700">
            <a:solidFill>
              <a:srgbClr val="2E4060"/>
            </a:solidFill>
          </a:ln>
        </p:spPr>
      </p:pic>
      <p:pic>
        <p:nvPicPr>
          <p:cNvPr id="7" name="Kepler-90 screenshot" descr="sys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306" y="1143000"/>
            <a:ext cx="4378986" cy="2743200"/>
          </a:xfrm>
          <a:prstGeom prst="rect">
            <a:avLst/>
          </a:prstGeom>
          <a:ln w="12700">
            <a:solidFill>
              <a:srgbClr val="2E406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023360" y="3977639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Every one of 3,611 Kepler stars with a planet or candidate,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drawn as pixel art from NASA and Gaia data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. Search a system, watch its planets orbit and the light dip as they cross.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  <a:latin typeface="Calibri"/>
              </a:rPr>
              <a:t>Live: </a:t>
            </a:r>
            <a:r>
              <a:rPr sz="1100" b="0" i="0">
                <a:solidFill>
                  <a:srgbClr val="0AADA4"/>
                </a:solidFill>
                <a:latin typeface="Calibri"/>
              </a:rPr>
              <a:t>med27-coder.github.io/cv-project-kepler-exoplanet-detection-inventory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CAABF"/>
                </a:solidFill>
                <a:latin typeface="Calibri"/>
              </a:rPr>
              <a:t>Behind the map: the real Milky Way (ESA Gaia DR3) and Kepler's 21 CCD modules. Free static site: no server, no tracking.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nd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457200" y="256032"/>
            <a:ext cx="6583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Explore the Field</a:t>
            </a:r>
          </a:p>
        </p:txBody>
      </p:sp>
      <p:sp>
        <p:nvSpPr>
          <p:cNvPr id="4" name="Badge"/>
          <p:cNvSpPr/>
          <p:nvPr/>
        </p:nvSpPr>
        <p:spPr>
          <a:xfrm>
            <a:off x="7132320" y="228600"/>
            <a:ext cx="1645920" cy="548640"/>
          </a:xfrm>
          <a:prstGeom prst="rect">
            <a:avLst/>
          </a:prstGeom>
          <a:solidFill>
            <a:srgbClr val="0F1E3C"/>
          </a:solidFill>
          <a:ln w="12700">
            <a:solidFill>
              <a:srgbClr val="F5C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3931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  <a:latin typeface="Calibri"/>
              </a:rPr>
              <a:t>EASTER EGGS</a:t>
            </a:r>
          </a:p>
        </p:txBody>
      </p:sp>
      <p:pic>
        <p:nvPicPr>
          <p:cNvPr id="6" name="Kepler's view" descr="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27" y="1143000"/>
            <a:ext cx="1970544" cy="1234440"/>
          </a:xfrm>
          <a:prstGeom prst="rect">
            <a:avLst/>
          </a:prstGeom>
          <a:ln w="12700">
            <a:solidFill>
              <a:srgbClr val="2E406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65760" y="2441448"/>
            <a:ext cx="2697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AADA4"/>
                </a:solidFill>
                <a:latin typeface="Calibri"/>
              </a:rPr>
              <a:t>Kepler's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60904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CAABF"/>
                </a:solidFill>
                <a:latin typeface="Calibri"/>
              </a:rPr>
              <a:t>Edge-on, as Kepler saw it: planets cross the star when the light dips</a:t>
            </a:r>
          </a:p>
        </p:txBody>
      </p:sp>
      <p:pic>
        <p:nvPicPr>
          <p:cNvPr id="9" name="Unconfirmed candidates" descr="gh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67" y="1143000"/>
            <a:ext cx="1970544" cy="1234440"/>
          </a:xfrm>
          <a:prstGeom prst="rect">
            <a:avLst/>
          </a:prstGeom>
          <a:ln w="12700">
            <a:solidFill>
              <a:srgbClr val="2E406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200400" y="2441448"/>
            <a:ext cx="2697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AADA4"/>
                </a:solidFill>
                <a:latin typeface="Calibri"/>
              </a:rPr>
              <a:t>Unconfirmed candidates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660904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CAABF"/>
                </a:solidFill>
                <a:latin typeface="Calibri"/>
              </a:rPr>
              <a:t>Drawn as ghosts, with a case file for each candidate</a:t>
            </a:r>
          </a:p>
        </p:txBody>
      </p:sp>
      <p:pic>
        <p:nvPicPr>
          <p:cNvPr id="12" name="Side view from Earth" descr="dep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012" y="1143000"/>
            <a:ext cx="1231535" cy="1234440"/>
          </a:xfrm>
          <a:prstGeom prst="rect">
            <a:avLst/>
          </a:prstGeom>
          <a:ln w="12700">
            <a:solidFill>
              <a:srgbClr val="2E4060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035040" y="2441448"/>
            <a:ext cx="2697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AADA4"/>
                </a:solidFill>
                <a:latin typeface="Calibri"/>
              </a:rPr>
              <a:t>Side view from Earth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660904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CAABF"/>
                </a:solidFill>
                <a:latin typeface="Calibri"/>
              </a:rPr>
              <a:t>Every star at its real distance: the cone Kepler looked down</a:t>
            </a:r>
          </a:p>
        </p:txBody>
      </p:sp>
      <p:pic>
        <p:nvPicPr>
          <p:cNvPr id="15" name="Our Solar System" descr="sol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227" y="3017520"/>
            <a:ext cx="1970544" cy="1234440"/>
          </a:xfrm>
          <a:prstGeom prst="rect">
            <a:avLst/>
          </a:prstGeom>
          <a:ln w="12700">
            <a:solidFill>
              <a:srgbClr val="2E4060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365760" y="4315968"/>
            <a:ext cx="2697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AADA4"/>
                </a:solidFill>
                <a:latin typeface="Calibri"/>
              </a:rPr>
              <a:t>Our Solar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535424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CAABF"/>
                </a:solidFill>
                <a:latin typeface="Calibri"/>
              </a:rPr>
              <a:t>Hidden: search "home". NASA facts and real pixel planets</a:t>
            </a:r>
          </a:p>
        </p:txBody>
      </p:sp>
      <p:pic>
        <p:nvPicPr>
          <p:cNvPr id="18" name="Our spacecraft" descr="craf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3867" y="3017520"/>
            <a:ext cx="1970544" cy="1234440"/>
          </a:xfrm>
          <a:prstGeom prst="rect">
            <a:avLst/>
          </a:prstGeom>
          <a:ln w="12700">
            <a:solidFill>
              <a:srgbClr val="2E4060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3200400" y="4315968"/>
            <a:ext cx="2697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AADA4"/>
                </a:solidFill>
                <a:latin typeface="Calibri"/>
              </a:rPr>
              <a:t>Our spacecraft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535424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CAABF"/>
                </a:solidFill>
                <a:latin typeface="Calibri"/>
              </a:rPr>
              <a:t>19 probes at their real positions (NASA JPL Horizons)</a:t>
            </a:r>
          </a:p>
        </p:txBody>
      </p:sp>
      <p:pic>
        <p:nvPicPr>
          <p:cNvPr id="21" name="The space station" descr="i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5901" y="3017520"/>
            <a:ext cx="1975757" cy="1234440"/>
          </a:xfrm>
          <a:prstGeom prst="rect">
            <a:avLst/>
          </a:prstGeom>
          <a:ln w="12700">
            <a:solidFill>
              <a:srgbClr val="2E4060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6035040" y="4315968"/>
            <a:ext cx="2697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AADA4"/>
                </a:solidFill>
                <a:latin typeface="Calibri"/>
              </a:rPr>
              <a:t>The space station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4535424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CAABF"/>
                </a:solidFill>
                <a:latin typeface="Calibri"/>
              </a:rPr>
              <a:t>A to-scale orbit and NASA's facts about the ISS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nd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457200" y="256032"/>
            <a:ext cx="6583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Engineering &amp; Security</a:t>
            </a:r>
          </a:p>
        </p:txBody>
      </p:sp>
      <p:sp>
        <p:nvSpPr>
          <p:cNvPr id="4" name="Badge"/>
          <p:cNvSpPr/>
          <p:nvPr/>
        </p:nvSpPr>
        <p:spPr>
          <a:xfrm>
            <a:off x="7132320" y="228600"/>
            <a:ext cx="1645920" cy="548640"/>
          </a:xfrm>
          <a:prstGeom prst="rect">
            <a:avLst/>
          </a:prstGeom>
          <a:solidFill>
            <a:srgbClr val="0F1E3C"/>
          </a:solidFill>
          <a:ln w="12700">
            <a:solidFill>
              <a:srgbClr val="0AA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3931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AADA4"/>
                </a:solidFill>
                <a:latin typeface="Calibri"/>
              </a:rPr>
              <a:t>BUILT RIGHT</a:t>
            </a:r>
          </a:p>
        </p:txBody>
      </p:sp>
      <p:sp>
        <p:nvSpPr>
          <p:cNvPr id="6" name="Card 1"/>
          <p:cNvSpPr/>
          <p:nvPr/>
        </p:nvSpPr>
        <p:spPr>
          <a:xfrm>
            <a:off x="365760" y="1115568"/>
            <a:ext cx="2697480" cy="1298448"/>
          </a:xfrm>
          <a:prstGeom prst="rect">
            <a:avLst/>
          </a:prstGeom>
          <a:solidFill>
            <a:srgbClr val="132140"/>
          </a:solidFill>
          <a:ln w="12700">
            <a:solidFill>
              <a:srgbClr val="2E4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1 number"/>
          <p:cNvSpPr/>
          <p:nvPr/>
        </p:nvSpPr>
        <p:spPr>
          <a:xfrm>
            <a:off x="502920" y="1252728"/>
            <a:ext cx="292608" cy="292608"/>
          </a:xfrm>
          <a:prstGeom prst="ellipse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2926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B1120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271016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D9BE9"/>
                </a:solidFill>
                <a:latin typeface="Calibri"/>
              </a:rPr>
              <a:t>Encrypted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45919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AES-256-GCM, split under GitHub's size limit; verify, rotate, passphrase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66543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CAABF"/>
                </a:solidFill>
                <a:latin typeface="Calibri"/>
              </a:rPr>
              <a:t>Public repo, private trained model</a:t>
            </a:r>
          </a:p>
        </p:txBody>
      </p:sp>
      <p:sp>
        <p:nvSpPr>
          <p:cNvPr id="12" name="Card 2"/>
          <p:cNvSpPr/>
          <p:nvPr/>
        </p:nvSpPr>
        <p:spPr>
          <a:xfrm>
            <a:off x="3200400" y="1115568"/>
            <a:ext cx="2697480" cy="1298448"/>
          </a:xfrm>
          <a:prstGeom prst="rect">
            <a:avLst/>
          </a:prstGeom>
          <a:solidFill>
            <a:srgbClr val="132140"/>
          </a:solidFill>
          <a:ln w="12700">
            <a:solidFill>
              <a:srgbClr val="2E4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2 number"/>
          <p:cNvSpPr/>
          <p:nvPr/>
        </p:nvSpPr>
        <p:spPr>
          <a:xfrm>
            <a:off x="3337560" y="1252728"/>
            <a:ext cx="292608" cy="292608"/>
          </a:xfrm>
          <a:prstGeom prst="ellipse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337560" y="1298448"/>
            <a:ext cx="2926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B1120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1271016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D9BE9"/>
                </a:solidFill>
                <a:latin typeface="Calibri"/>
              </a:rPr>
              <a:t>Locked-down website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645919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Strict Content Security Policy, escaped data, clickjacking guard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066543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CAABF"/>
                </a:solidFill>
                <a:latin typeface="Calibri"/>
              </a:rPr>
              <a:t>No inline code, no tracking, no cookies</a:t>
            </a:r>
          </a:p>
        </p:txBody>
      </p:sp>
      <p:sp>
        <p:nvSpPr>
          <p:cNvPr id="18" name="Card 3"/>
          <p:cNvSpPr/>
          <p:nvPr/>
        </p:nvSpPr>
        <p:spPr>
          <a:xfrm>
            <a:off x="6035040" y="1115568"/>
            <a:ext cx="2697480" cy="1298448"/>
          </a:xfrm>
          <a:prstGeom prst="rect">
            <a:avLst/>
          </a:prstGeom>
          <a:solidFill>
            <a:srgbClr val="132140"/>
          </a:solidFill>
          <a:ln w="12700">
            <a:solidFill>
              <a:srgbClr val="2E4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3 number"/>
          <p:cNvSpPr/>
          <p:nvPr/>
        </p:nvSpPr>
        <p:spPr>
          <a:xfrm>
            <a:off x="6172200" y="1252728"/>
            <a:ext cx="292608" cy="292608"/>
          </a:xfrm>
          <a:prstGeom prst="ellipse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72200" y="1298448"/>
            <a:ext cx="2926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B1120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1271016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D9BE9"/>
                </a:solidFill>
                <a:latin typeface="Calibri"/>
              </a:rPr>
              <a:t>Supply chain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1645919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SHA-pinned Actions, hash-locked dependencies, CodeQL, pip-audit, Scorecard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066543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CAABF"/>
                </a:solidFill>
                <a:latin typeface="Calibri"/>
              </a:rPr>
              <a:t>Tampered packages are refused</a:t>
            </a:r>
          </a:p>
        </p:txBody>
      </p:sp>
      <p:sp>
        <p:nvSpPr>
          <p:cNvPr id="24" name="Card 4"/>
          <p:cNvSpPr/>
          <p:nvPr/>
        </p:nvSpPr>
        <p:spPr>
          <a:xfrm>
            <a:off x="365760" y="2487168"/>
            <a:ext cx="2697480" cy="1298448"/>
          </a:xfrm>
          <a:prstGeom prst="rect">
            <a:avLst/>
          </a:prstGeom>
          <a:solidFill>
            <a:srgbClr val="132140"/>
          </a:solidFill>
          <a:ln w="12700">
            <a:solidFill>
              <a:srgbClr val="2E4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4 number"/>
          <p:cNvSpPr/>
          <p:nvPr/>
        </p:nvSpPr>
        <p:spPr>
          <a:xfrm>
            <a:off x="502920" y="2624327"/>
            <a:ext cx="292608" cy="292608"/>
          </a:xfrm>
          <a:prstGeom prst="ellipse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02920" y="2670048"/>
            <a:ext cx="2926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B1120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2642615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D9BE9"/>
                </a:solidFill>
                <a:latin typeface="Calibri"/>
              </a:rPr>
              <a:t>110 automated tests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017520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Including the real page in a headless browser and a colour-blind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43814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CAABF"/>
                </a:solidFill>
                <a:latin typeface="Calibri"/>
              </a:rPr>
              <a:t>Run on every push</a:t>
            </a:r>
          </a:p>
        </p:txBody>
      </p:sp>
      <p:sp>
        <p:nvSpPr>
          <p:cNvPr id="30" name="Card 5"/>
          <p:cNvSpPr/>
          <p:nvPr/>
        </p:nvSpPr>
        <p:spPr>
          <a:xfrm>
            <a:off x="3200400" y="2487168"/>
            <a:ext cx="2697480" cy="1298448"/>
          </a:xfrm>
          <a:prstGeom prst="rect">
            <a:avLst/>
          </a:prstGeom>
          <a:solidFill>
            <a:srgbClr val="132140"/>
          </a:solidFill>
          <a:ln w="12700">
            <a:solidFill>
              <a:srgbClr val="2E4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ard 5 number"/>
          <p:cNvSpPr/>
          <p:nvPr/>
        </p:nvSpPr>
        <p:spPr>
          <a:xfrm>
            <a:off x="3337560" y="2624327"/>
            <a:ext cx="292608" cy="292608"/>
          </a:xfrm>
          <a:prstGeom prst="ellipse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337560" y="2670048"/>
            <a:ext cx="2926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B1120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30752" y="2642615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D9BE9"/>
                </a:solidFill>
                <a:latin typeface="Calibri"/>
              </a:rPr>
              <a:t>Resumable pipeline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3017520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Catalog checks, checkpointed training, one command end to 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343814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CAABF"/>
                </a:solidFill>
                <a:latin typeface="Calibri"/>
              </a:rPr>
              <a:t>A PC restart no longer costs a run</a:t>
            </a:r>
          </a:p>
        </p:txBody>
      </p:sp>
      <p:sp>
        <p:nvSpPr>
          <p:cNvPr id="36" name="Card 6"/>
          <p:cNvSpPr/>
          <p:nvPr/>
        </p:nvSpPr>
        <p:spPr>
          <a:xfrm>
            <a:off x="6035040" y="2487168"/>
            <a:ext cx="2697480" cy="1298448"/>
          </a:xfrm>
          <a:prstGeom prst="rect">
            <a:avLst/>
          </a:prstGeom>
          <a:solidFill>
            <a:srgbClr val="132140"/>
          </a:solidFill>
          <a:ln w="12700">
            <a:solidFill>
              <a:srgbClr val="2E4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ard 6 number"/>
          <p:cNvSpPr/>
          <p:nvPr/>
        </p:nvSpPr>
        <p:spPr>
          <a:xfrm>
            <a:off x="6172200" y="2624327"/>
            <a:ext cx="292608" cy="292608"/>
          </a:xfrm>
          <a:prstGeom prst="ellipse">
            <a:avLst/>
          </a:prstGeom>
          <a:solidFill>
            <a:srgbClr val="3D9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172200" y="2670048"/>
            <a:ext cx="2926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B1120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5392" y="2642615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D9BE9"/>
                </a:solidFill>
                <a:latin typeface="Calibri"/>
              </a:rPr>
              <a:t>Always fresh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3017520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Monthly NASA / Gaia / JPL refresh as a pull request; weekly schema check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343814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CAABF"/>
                </a:solidFill>
                <a:latin typeface="Calibri"/>
              </a:rPr>
              <a:t>Nothing merges without review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402336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  <a:latin typeface="Calibri"/>
              </a:rPr>
              <a:t>Lesson: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treat a student project like production. Checks that run on every push caught real problems: colours some readers couldn't tell apart, a "transit" longer than its orbit, a canvas wiped in background tabs.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Exoplanet Detection — CV Portfolio</dc:title>
  <dc:subject>PptxGenJS Presentation</dc:subject>
  <dc:creator>Francisco Medina</dc:creator>
  <cp:lastModifiedBy>Francisco Medina</cp:lastModifiedBy>
  <cp:revision>1</cp:revision>
  <dcterms:created xsi:type="dcterms:W3CDTF">2026-05-11T18:41:21Z</dcterms:created>
  <dcterms:modified xsi:type="dcterms:W3CDTF">2026-05-11T18:41:21Z</dcterms:modified>
</cp:coreProperties>
</file>